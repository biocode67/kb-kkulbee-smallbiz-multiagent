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C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035040"/>
            <a:ext cx="12191695" cy="822960"/>
          </a:xfrm>
          <a:prstGeom prst="roundRect">
            <a:avLst>
              <a:gd name="adj" fmla="val 6000"/>
            </a:avLst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BC00"/>
                </a:solidFill>
                <a:latin typeface="맑은 고딕"/>
              </a:rPr>
              <a:t>제8회 KB AI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863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>
                <a:solidFill>
                  <a:srgbClr val="FFFFFF"/>
                </a:solidFill>
                <a:latin typeface="맑은 고딕"/>
              </a:rPr>
              <a:t>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E8E0D4"/>
                </a:solidFill>
                <a:latin typeface="맑은 고딕"/>
              </a:rPr>
              <a:t>사장님의 세 가지 고민, 한 번에 물어보세요</a:t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E8E0D4"/>
                </a:solidFill>
                <a:latin typeface="맑은 고딕"/>
              </a:rPr>
              <a:t>어디에 열지 · 자금은 어떻게 · 억울한 일이 생기면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4D6"/>
                </a:solidFill>
                <a:latin typeface="맑은 고딕"/>
              </a:rPr>
              <a:t>전국 점포 2,725,318개 · 정부 지원사업 공고 900건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4D6"/>
                </a:solidFill>
                <a:latin typeface="맑은 고딕"/>
              </a:rPr>
              <a:t>실측 자료 위에서만 답합니다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99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8322A"/>
                </a:solidFill>
                <a:latin typeface="맑은 고딕"/>
              </a:rPr>
              <a:t>Pick 2 최적 입지  ×  Pick 3 소상공인 금융  ×  Pick 4 소비자 보호</a:t>
            </a:r>
          </a:p>
        </p:txBody>
      </p:sp>
      <p:pic>
        <p:nvPicPr>
          <p:cNvPr id="9" name="Picture 8" descr="kkulbee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53403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WHY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작년에도 '꿀벌 비서'가 있었습니다 — 무엇이 다른가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259"/>
                </a:solidFill>
                <a:latin typeface="맑은 고딕"/>
              </a:rPr>
              <a:t>제7회 본선 「사장님의 꿀벌 비서」는 흩어진 정보를 모아 보여주는 서비스였습니다. 꿀비는 '보여주기'가 아니라 '실측으로 답하고 증명하는' 쪽에 섰습니다.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실측 규모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48716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259"/>
                </a:solidFill>
                <a:latin typeface="맑은 고딕"/>
              </a:rPr>
              <a:t>점포 272만 개 좌표 · 공고 900건 하이브리드 검색 P@1 0.875 — 정보 나열이 아니라 검색·분석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1868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3픽 크로스오버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3697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259"/>
                </a:solidFill>
                <a:latin typeface="맑은 고딕"/>
              </a:rPr>
              <a:t>입지×금융×소비자보호가 한 질문에서 동시에 켜지고, 어떤 에이전트가 돌았는지 화면에 남습니다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6849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구조로 보장되는 가드레일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98678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259"/>
                </a:solidFill>
                <a:latin typeface="맑은 고딕"/>
              </a:rPr>
              <a:t>금소법 검사가 그래프의 마지막 노드 — LLM이 쓴 문장도 예외 없이 거칩니다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1830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정직성의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4736592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259"/>
                </a:solidFill>
                <a:latin typeface="맑은 고딕"/>
              </a:rPr>
              <a:t>없는 자료는 없다고 화면에 적고, 모르는 동네에 점수를 주지 않고, 추천마다 원문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6811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키·GPU 없이 영구 동작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48640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259"/>
                </a:solidFill>
                <a:latin typeface="맑은 고딕"/>
              </a:rPr>
              <a:t>검색은 int8 ONNX CPU 5ms — 시연 환경과 외부 한도를 타지 않습니다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사장님은 '무엇을 물어야 하는지'를 모릅니다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44438"/>
                </a:solidFill>
                <a:latin typeface="맑은 고딕"/>
              </a:rPr>
              <a:t>"요즘 통 손님이 없어서 월세도 빠듯해요"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259"/>
                </a:solidFill>
                <a:latin typeface="맑은 고딕"/>
              </a:rPr>
              <a:t>이 문장에는 '자금'도 '대출'도 '지원사업'도 없습니다. 그런데 이 사장님께 필요한 것은 소상공인 경영안정자금입니다.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제도를 몰라서 못 받는다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지원사업은 부처·지자체·공단에 흩어져 있고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공고문은 행정 용어로 쓰여 있습니다.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이름을 모르면 검색창에 넣을 수도 없습니다.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320040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상권 정보는 '평균'만 준다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977639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'이 동네 카페 평균 매출'을 들어도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내 자리가 어떤지는 알 수 없습니다.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무엇이 좋고 무엇이 나쁜지 쪼개 줘야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320040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5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설명을 못 들어도 모른다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5" y="3977639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금소법상 설명의무 위반이어도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그것이 위반인지 아는 사장님은 드뭅니다.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권리가 있어도 쓰지 못합니다.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→ 제도 이름이 아니라 '처한 상황'으로 물어도 답이 나와야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한 번 물으면 세 에이전트가 동시에 답합니다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"연남동에서 카페 열려는데 상권도 보고 자금도 알려줘" — 한 문장에 두 과제가 걸려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갈래·지역·업종을 읽습니다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규칙이 확실하면 LLM을 안 부릅니다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834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BC00"/>
                </a:solidFill>
                <a:latin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3317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4436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전국 점포 272만 개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행정동 3,450곳 백분위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2834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BC00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3317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4436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기업마당 공고 900건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BM25 + 임베딩 하이브리드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834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BC00"/>
                </a:solidFill>
                <a:latin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3317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94436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금소법 검사·재작성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용어 15개 · 분쟁 4단계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77639"/>
            <a:ext cx="10789920" cy="868680"/>
          </a:xfrm>
          <a:prstGeom prst="roundRect">
            <a:avLst>
              <a:gd name="adj" fmla="val 6000"/>
            </a:avLst>
          </a:prstGeom>
          <a:solidFill>
            <a:srgbClr val="FFF9E8"/>
          </a:solidFill>
          <a:ln w="12700">
            <a:solidFill>
              <a:srgbClr val="FFB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33087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8322A"/>
                </a:solidFill>
                <a:latin typeface="맑은 고딕"/>
              </a:rPr>
              <a:t>가드레일은 예외 없이 마지막에 돕니다 — 어느 경로로 왔든, LLM이 쓴 문장이든, 사용자에게 나가는 모든 문장이 금소법 검사를 거칩니다.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38322A"/>
                </a:solidFill>
                <a:latin typeface="맑은 고딕"/>
              </a:rPr>
              <a:t>이 불변식을 코드가 아니라 그래프 구조로 보장합니다.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184648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120640"/>
            <a:ext cx="10588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8322A"/>
                </a:solidFill>
                <a:latin typeface="맑은 고딕"/>
              </a:rPr>
              <a:t>라우터가 하나만 고르지 않습니다 — 한 질문이 여러 과제에 걸치는 경우가 실제로 많습니다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5568696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504688"/>
            <a:ext cx="10588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8322A"/>
                </a:solidFill>
                <a:latin typeface="맑은 고딕"/>
              </a:rPr>
              <a:t>무엇을 그릴지도 서버가 정합니다(Generative UI) — 질문에 따라 화면 카드 구성이 달라집니다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5952744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5888736"/>
            <a:ext cx="10588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8322A"/>
                </a:solidFill>
                <a:latin typeface="맑은 고딕"/>
              </a:rPr>
              <a:t>답변은 끝난 순서가 아니라 갈래 중요도 순서로 읽힙니다 — 분쟁 질문에 지원사업이 먼저 나오면 안 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숫자마다 출처가 있고, 없는 것은 없다고 적습니다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56816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소상공인시장진흥공단 상가(상권)정보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점포 2,725,318개 · 행정동 3,450곳 · 업종 247종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95681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544438"/>
                </a:solidFill>
                <a:latin typeface="맑은 고딕"/>
              </a:rPr>
              <a:t>2026-03-31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3317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공공데이터포털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08376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중소벤처기업부 기업마당 공고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공고 900건 · 접수중 501 · 상시 319 · 마감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0083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544438"/>
                </a:solidFill>
                <a:latin typeface="맑은 고딕"/>
              </a:rPr>
              <a:t>2026-08-01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383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bizinfo.go.kr 직접 수집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3192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59936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322A"/>
                </a:solidFill>
                <a:latin typeface="맑은 고딕"/>
              </a:rPr>
              <a:t>금융소비자보호법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설명의무(§19) · 부당권유금지(§21) · 적합성(§17) 등 가드레일 규칙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544438"/>
                </a:solidFill>
                <a:latin typeface="맑은 고딕"/>
              </a:rPr>
              <a:t>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4348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법령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789920" cy="1234440"/>
          </a:xfrm>
          <a:prstGeom prst="roundRect">
            <a:avLst>
              <a:gd name="adj" fmla="val 6000"/>
            </a:avLst>
          </a:prstGeom>
          <a:solidFill>
            <a:srgbClr val="FDF2F0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30368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392B"/>
                </a:solidFill>
                <a:latin typeface="맑은 고딕"/>
              </a:rPr>
              <a:t>점수에 넣지 않은 것 — 유동인구 · 매출 · 폐업률 · 임대료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상가정보 자료에 없습니다. 추정해 채우면 지어내는 것이므로 넣지 않고, 화면과 API(/api/v1/sources) 양쪽에 없다고 적습니다.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개발 초기에는 이 값들을 동네 이름 해시로 만들어 '유동인구 24.6천명/일'처럼 실측인 양 내보내고 있었습니다. 걷어냈습니다.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CORE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정책자금 검색 — 낱말과 뜻, 둘 다로 찾습니다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BM25는 '전통시장'을 정확히 잡고, 임베딩은 "장사가 안돼요"와 '경영안정자금'을 잇습니다. 약점이 서로 달라 합치면 각자보다 낫습니다.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8322A"/>
                </a:solidFill>
                <a:latin typeface="맑은 고딕"/>
              </a:rPr>
              <a:t>900건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443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44438"/>
                </a:solidFill>
                <a:latin typeface="맑은 고딕"/>
              </a:rPr>
              <a:t>기업마당 실제 공고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3,326개 조각으로 나눠 색인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38322A"/>
                </a:solidFill>
                <a:latin typeface="맑은 고딕"/>
              </a:rPr>
              <a:t>5ms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443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44438"/>
                </a:solidFill>
                <a:latin typeface="맑은 고딕"/>
              </a:rPr>
              <a:t>질의당 검색 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CPU · int8 ONNX · 키 불필요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E8E5A"/>
                </a:solidFill>
                <a:latin typeface="맑은 고딕"/>
              </a:rPr>
              <a:t>0.875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9443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44438"/>
                </a:solidFill>
                <a:latin typeface="맑은 고딕"/>
              </a:rPr>
              <a:t>P@1 (16문항 평가셋)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기준선 0.625에서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E8E5A"/>
                </a:solidFill>
                <a:latin typeface="맑은 고딕"/>
              </a:rPr>
              <a:t>0.938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443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44438"/>
                </a:solidFill>
                <a:latin typeface="맑은 고딕"/>
              </a:rPr>
              <a:t>MRR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기준선 0.719에서 개선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77639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재 보지 않았으면 놓쳤을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8912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임베딩 유사도가 0.82~0.86에 다 몰려 있었습니다. 폭이 0.0465입니다 — 순위가 사실상 잡음으로 정해집니다.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"운영자금이 필요해요"에 「IP투자연계 지식재산평가」가 1위였습니다.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평균 방향을 빼고 다시 정규화하니 폭이 0.3038로 벌어지고, 같은 질문에 「소상공인시장진흥자금 융자」가 1위가 됐습니다.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39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평가 기준부터 의심했습니다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8912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처음 P@1이 0.94로 나왔습니다. 들여다보니 "배달앱 수수료" 질문에 「IoT 보안인증 인증시험 수수료 지원」이 정답으로 세어지고 있었습니다. 낱말 하나가 겹쳤을 뿐입니다.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기준을 조여 0.625까지 내리고, 거기서 다시 0.875로 올렸습니다. 후하게 나온 점수는 고칠 곳을 가려 버립니다.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CORE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상권 점수 — 무엇이 몇 점을 올리고 내렸는지까지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기준점 50에서 요인 다섯이 더하고 뺀 몫이 최종 점수입니다. 요인마다 전국 행정동 분포에서의 백분위로 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38322A"/>
                </a:solidFill>
                <a:latin typeface="맑은 고딕"/>
              </a:rPr>
              <a:t>서울 마포구 연남동 · 카페 → 66.8점 (B등급)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동종업종 경쟁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1608" y="2779776"/>
            <a:ext cx="1270312" cy="182880"/>
          </a:xfrm>
          <a:prstGeom prst="rect">
            <a:avLst/>
          </a:prstGeom>
          <a:solidFill>
            <a:srgbClr val="E0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2743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C0392B"/>
                </a:solidFill>
                <a:latin typeface="맑은 고딕"/>
              </a:rPr>
              <a:t>-12.9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432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카페 204개 · 전국 상위 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상권 규모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3163824"/>
            <a:ext cx="1073364" cy="18288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312724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+10.9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272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점포 2,327개 · 전국 상위 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112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점포 밀집도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547872"/>
            <a:ext cx="955196" cy="18288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351129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+9.7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112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0.55㎢에 2,327개 · ㎢당 4,208개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953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같은 계열 집적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931920"/>
            <a:ext cx="452979" cy="18288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89534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+4.6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95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음식 39% · 전국 평균의 1.3배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793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생활 인프라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315968"/>
            <a:ext cx="590843" cy="18288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27939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+6.0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2793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약국·편의점·의원 등 9종 모두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6634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업종 다양성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84210" y="4700016"/>
            <a:ext cx="147710" cy="182880"/>
          </a:xfrm>
          <a:prstGeom prst="rect">
            <a:avLst/>
          </a:prstGeom>
          <a:solidFill>
            <a:srgbClr val="E0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46634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C0392B"/>
                </a:solidFill>
                <a:latin typeface="맑은 고딕"/>
              </a:rPr>
              <a:t>-1.5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6634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몇몇 업종에 쏠린 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9204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FFF9E8"/>
          </a:solidFill>
          <a:ln w="12700">
            <a:solidFill>
              <a:srgbClr val="FFB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07492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모르는 동네에는 점수를 주지 않습니다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4068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예전에는 동네 이름만 있으면 해시 난수로 채워 무엇이든 답했습니다. 위경도까지 한반도 한가운데 무작위였습니다.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지금은 자료에 없으면 "어느 동네인지 못 알아들었습니다"라고 합니다. 대신 '성수동'(→성수2가3동), '홍대'(→서교동)처럼 부르는 이름과 행정동이 다른 경우를 알아듣게 넓혔습니다.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CORE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금융소비자보호 가드레일 — 마지막 관문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금융 서비스에서 AI가 하면 안 되는 말이 법으로 정해져 있습니다. 규칙으로 막고, 막은 것을 기록에 남깁니다.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3230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8322A"/>
                </a:solidFill>
                <a:latin typeface="맑은 고딕"/>
              </a:rPr>
              <a:t>금리·한도 확정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14016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0392B"/>
                </a:solidFill>
                <a:latin typeface="맑은 고딕"/>
              </a:rPr>
              <a:t>"연 2.5%로 5천만원 받으실 수 있습니다"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83464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E8E5A"/>
                </a:solidFill>
                <a:latin typeface="맑은 고딕"/>
              </a:rPr>
              <a:t>→ "공고 기준이며 실제 조건은 심사 결과에 따릅니다"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2102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8322A"/>
                </a:solidFill>
                <a:latin typeface="맑은 고딕"/>
              </a:rPr>
              <a:t>수익·승인 보장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02736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0392B"/>
                </a:solidFill>
                <a:latin typeface="맑은 고딕"/>
              </a:rPr>
              <a:t>"신청하면 100% 됩니다"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02336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E8E5A"/>
                </a:solidFill>
                <a:latin typeface="맑은 고딕"/>
              </a:rPr>
              <a:t>→ 삭제 후 안내 문구로 대체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6344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0974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8322A"/>
                </a:solidFill>
                <a:latin typeface="맑은 고딕"/>
              </a:rPr>
              <a:t>권유·단정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791456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0392B"/>
                </a:solidFill>
                <a:latin typeface="맑은 고딕"/>
              </a:rPr>
              <a:t>"지금 대출받으세요"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21208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E8E5A"/>
                </a:solidFill>
                <a:latin typeface="맑은 고딕"/>
              </a:rPr>
              <a:t>→ 정보 제공 표현으로 재작성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897880"/>
            <a:ext cx="10789920" cy="594360"/>
          </a:xfrm>
          <a:prstGeom prst="roundRect">
            <a:avLst>
              <a:gd name="adj" fmla="val 6000"/>
            </a:avLst>
          </a:prstGeom>
          <a:solidFill>
            <a:srgbClr val="FFF9E8"/>
          </a:solidFill>
          <a:ln w="12700">
            <a:solidFill>
              <a:srgbClr val="FFB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60350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8322A"/>
                </a:solidFill>
                <a:latin typeface="맑은 고딕"/>
              </a:rPr>
              <a:t>무엇을 왜 고쳤는지 응답에 함께 실어 화면에 띄웁니다. /api/v1/guardrail/check 에 문장을 넣어 그 자리에서 확인하실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BEYOND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데이터사이언스 · RPA · 생성 · 접근성 — 자유 기능 여섯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401568" cy="2212848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두 동네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6B00"/>
                </a:solidFill>
                <a:latin typeface="맑은 고딕"/>
              </a:rPr>
              <a:t>A vs B를 같은 자로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"연남동이랑 성수동 비교해줘" 한 마디로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우세 판정 + 요인 6개 승부표 + 생활인구 대조.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후보 둘 사이의 고민을 화면 하나로.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828800"/>
            <a:ext cx="3401568" cy="2212848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RPA 원문 순찰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35915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6B00"/>
                </a:solidFill>
                <a:latin typeface="맑은 고딕"/>
              </a:rPr>
              <a:t>색인은 스냅샷, 공고는 살아 움직인다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6974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찜한 공고 전부를 기계가 원문에서 재확인 —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마감 연장·조기 마감·서식 교체 감지.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신청서식 hwp 즉시 다운로드, 마감은 .ics로.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828800"/>
            <a:ext cx="3401568" cy="2212848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99339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민원서 초안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359152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6B00"/>
                </a:solidFill>
                <a:latin typeface="맑은 고딕"/>
              </a:rPr>
              <a:t>규칙이 법조문, LLM은 사실관계만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697480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"수수료를 왜 떼요" 한 문장이 제출 가능한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민원서 꼴이 됩니다. 없는 날짜·금액은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[빈칸] 강제 — §를 지어낼 수 없는 구조.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24528"/>
            <a:ext cx="3401568" cy="2212848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닮은 상권 찾기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6B00"/>
                </a:solidFill>
                <a:latin typeface="맑은 고딕"/>
              </a:rPr>
              <a:t>업종 구성 247차원 코사인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93208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연남동 ↔ 광안리·서교동·망원동.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붙어 있는 동네가 아니라 '성격이 닮은' 동네 —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2호점 후보의 출발점. 질의 0.4ms.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4224528"/>
            <a:ext cx="3401568" cy="2212848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43891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음성 대화 + 지도 투어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7548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6B00"/>
                </a:solidFill>
                <a:latin typeface="맑은 고딕"/>
              </a:rPr>
              <a:t>브라우저 내장 · 다운로드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5093208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말로 묻고 꿀비가 읽어 줍니다. 지도는 전국에서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그 동네로 날아들어 4막 투어(점포→열지도→비교).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금융 접근성 — 이 대회가 상을 준 각도.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7575" y="4224528"/>
            <a:ext cx="3401568" cy="2212848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43891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>
                <a:solidFill>
                  <a:srgbClr val="38322A"/>
                </a:solidFill>
                <a:latin typeface="맑은 고딕"/>
              </a:rPr>
              <a:t>계산기 두 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4754880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6B00"/>
                </a:solidFill>
                <a:latin typeface="맑은 고딕"/>
              </a:rPr>
              <a:t>융자의 다음 질문은 '한 달에 얼마?'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5093208"/>
            <a:ext cx="3017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매칭 공고의 한도·금리가 자동으로 채워지는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상환 시뮬레이터(원리금·원금·만기일시)와</a:t>
            </a:r>
          </a:p>
          <a:p>
            <a:pPr algn="l">
              <a:lnSpc>
                <a:spcPct val="132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손익분기 계산기. 확약 아님을 화면에 명시.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SIGNATURE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다른 팀이 하기 어려운 세 가지 — 전부 실제로 돌아갑니다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01568" cy="41148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128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8322A"/>
                </a:solidFill>
                <a:latin typeface="맑은 고딕"/>
              </a:rPr>
              <a:t>What-If 반사실 엔진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9A6B00"/>
                </a:solidFill>
                <a:latin typeface="맑은 고딕"/>
              </a:rPr>
              <a:t>XAI를 '미래 행동'으로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246120"/>
            <a:ext cx="29718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점수를 보여주고 끝나지 않습니다. 같은 동네를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40개 업종으로 0.5초에 전부 다시 재서 "무엇을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하면 몇 점"을 역계산합니다(+28.9점처럼).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자료에 없는 변수(배달 비중·영업시간)는 다루지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않습니다 — 지어낸 민감도는 반사실이 아닙니다.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920240"/>
            <a:ext cx="3401568" cy="41148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128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8322A"/>
                </a:solidFill>
                <a:latin typeface="맑은 고딕"/>
              </a:rPr>
              <a:t>금소법 빨간 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9A6B00"/>
                </a:solidFill>
                <a:latin typeface="맑은 고딕"/>
              </a:rPr>
              <a:t>규제 준수가 눈에 보인다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46120"/>
            <a:ext cx="29718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"무조건 대출받으실 수 있습니다"를 넣으면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위반 문구가 눈앞에서 취소선으로 지워지고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안전한 문구가 초록으로 들어옵니다.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시연용 흉내가 아니라 모든 답변이 통과하는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바로 그 가드레일의 실제 diff입니다.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920240"/>
            <a:ext cx="3401568" cy="41148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7" y="221284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38322A"/>
                </a:solidFill>
                <a:latin typeface="맑은 고딕"/>
              </a:rPr>
              <a:t>감정 연동 3D 에이전트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7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9A6B00"/>
                </a:solidFill>
                <a:latin typeface="맑은 고딕"/>
              </a:rPr>
              <a:t>몸짓·말·화면이 한 감정으로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3246120"/>
            <a:ext cx="29718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"장사가 너무 힘들어요"라고 하면 꿀비는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통통 튀지 않고 고개를 숙이고 날개를 늦춥니다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(consoling). 좋은 소식엔 콘페티. 잡아 늘이면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슬라임처럼 쫀득 — 외부 에셋 0의 절차적 3D.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지금 접속해 보실 수 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kb-kkulbee-smallbiz-multiagent.onrender.com — 목업이 아니라 배포 중인 실서비스의 화면입니다.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5405548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893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544438"/>
                </a:solidFill>
                <a:latin typeface="맑은 고딕"/>
              </a:rPr>
              <a:t>첫 화면 — 다섯 갈래 선택</a:t>
            </a:r>
          </a:p>
        </p:txBody>
      </p:sp>
      <p:pic>
        <p:nvPicPr>
          <p:cNvPr id="8" name="Picture 7" descr="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86000"/>
            <a:ext cx="3678776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09160" y="59893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544438"/>
                </a:solidFill>
                <a:latin typeface="맑은 고딕"/>
              </a:rPr>
              <a:t>지도 투어 — 점포 위 자막</a:t>
            </a:r>
          </a:p>
        </p:txBody>
      </p:sp>
      <p:pic>
        <p:nvPicPr>
          <p:cNvPr id="10" name="Picture 9" descr="poli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286000"/>
            <a:ext cx="3743253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6760" y="59893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544438"/>
                </a:solidFill>
                <a:latin typeface="맑은 고딕"/>
              </a:rPr>
              <a:t>자금 — 성격·추천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008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그 밖의 결: 두 동네 비교(A vs B 요인 승부표) · 찜 D-day + RPA 원문 순찰 · 마감 캘린더(.ics) · 내 가게 원클릭 브리핑 · 상담 리포트 인쇄 · 음성 대화 · 금소법 검사기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8월 13일에 이 서버가 사라져도 계속 돕니다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개발용 GPU 서버는 한시적입니다. 그래서 무거운 계산은 미리 끝내 파일로 남기고, 런타임은 그 파일만 읽습니다.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사전 계산 (개발 시 · GPU)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944368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880360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8322A"/>
                </a:solidFill>
                <a:latin typeface="맑은 고딕"/>
              </a:rPr>
              <a:t>기업마당 900건 수집 → 구조화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273552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209544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8322A"/>
                </a:solidFill>
                <a:latin typeface="맑은 고딕"/>
              </a:rPr>
              <a:t>전국 점포 272만 개 → 행정동 집계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602736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53872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8322A"/>
                </a:solidFill>
                <a:latin typeface="맑은 고딕"/>
              </a:rPr>
              <a:t>임베딩 3,326개 → 평균 중심화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31920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867912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8322A"/>
                </a:solidFill>
                <a:latin typeface="맑은 고딕"/>
              </a:rPr>
              <a:t>결과: 색인 파일 23.8MB (저장소에 포함)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런타임 (배포 · CPU만)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2944368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880360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8322A"/>
                </a:solidFill>
                <a:latin typeface="맑은 고딕"/>
              </a:rPr>
              <a:t>질의 임베딩: int8 ONNX · 5ms · 키 불필요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273552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209544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8322A"/>
                </a:solidFill>
                <a:latin typeface="맑은 고딕"/>
              </a:rPr>
              <a:t>검색: BM25 + 코사인 · 12~55ms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602736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353872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8322A"/>
                </a:solidFill>
                <a:latin typeface="맑은 고딕"/>
              </a:rPr>
              <a:t>LLM: Gemini (선택) · 없으면 규칙+템플릿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931920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3867912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8322A"/>
                </a:solidFill>
                <a:latin typeface="맑은 고딕"/>
              </a:rPr>
              <a:t>메모리: 354MB (무료 등급 512MB 안)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63440"/>
            <a:ext cx="10789920" cy="1600200"/>
          </a:xfrm>
          <a:prstGeom prst="roundRect">
            <a:avLst>
              <a:gd name="adj" fmla="val 6000"/>
            </a:avLst>
          </a:prstGeom>
          <a:solidFill>
            <a:srgbClr val="FFF9E8"/>
          </a:solidFill>
          <a:ln w="12700">
            <a:solidFill>
              <a:srgbClr val="FFB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4632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512MB에 넣기 위해 실제로 잰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23036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배포 전에 메모리를 재 보니 611MB였습니다. 안 재고 올렸으면 그 자리에서 죽었습니다. 범인은 뜻밖에도 토크나이저였습니다 — 17MB짜리 tokenizer.json을 올리는 데 280MB를 씁니다.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sentencepiece 원본(5MB)으로 바꾸면 70MB입니다. 다만 토큰 번호가 어긋나면 검색이 조용히 망가지므로, 두 방식의 출력을 대조해 **비트 단위로 같음**을 확인하고 바꿨습니다. ONNX 메모리 아레나도 껐습니다(200MB→9MB). 결과 611MB → 354MB.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38322A"/>
                </a:solidFill>
                <a:latin typeface="맑은 고딕"/>
              </a:rPr>
              <a:t>정직을 설계에 넣었습니다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모르면 모른다고 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84708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맞는 공고가 없으면 빈손으로 답합니다. 900건 중 무엇이든 상위 다섯 개는 뽑히지만, 관련 없는 목록은 사장님의 시간을 뺏습니다.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재지 못한 것을 같은 자리에 적습니다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71576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유동인구·매출·폐업률을 점수에 안 넣었다는 사실이 상권 카드 안에 있습니다. 다른 화면에서 찾아봐야 알면 감춘 것입니다.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숫자마다 원문 링크가 붙습니다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58444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추천한 공고마다 기업마당 원문 주소가 함께 나갑니다. 우리가 요약한 것을 직접 대조하실 수 있어야 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금액은 근거가 있을 때만 씁니다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45312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본문에서 찾은 가장 큰 금액을 한도로 적어 '총사업비 4,000억원'이 한도로 둔갑했습니다. '한도·최대·이내'가 곁에 있을 때만 읽고, 무엇으로 읽었는지 남깁니다.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03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38322A"/>
                </a:solidFill>
                <a:latin typeface="맑은 고딕"/>
              </a:rPr>
              <a:t>LLM이 사실을 만들 수 없는 구조입니다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32180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LLM은 갈래를 고르고 문장을 엮을 뿐, 공고와 숫자는 색인에서 나옵니다. 그 문장도 가드레일을 반드시 거칩니다.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C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035040"/>
            <a:ext cx="12191695" cy="822960"/>
          </a:xfrm>
          <a:prstGeom prst="roundRect">
            <a:avLst>
              <a:gd name="adj" fmla="val 6000"/>
            </a:avLst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0467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제도 이름을 몰라도</a:t>
            </a:r>
          </a:p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답을 받을 수 있어야 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8046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0D4"/>
                </a:solidFill>
                <a:latin typeface="맑은 고딕"/>
              </a:rPr>
              <a:t>전국 점포 2,725,318개 · 지원사업 공고 900건 · 금소법 가드레일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0D4"/>
                </a:solidFill>
                <a:latin typeface="맑은 고딕"/>
              </a:rPr>
              <a:t>실측 위에서만 답하고, 없는 것은 없다고 적는 소상공인 AI 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99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38322A"/>
                </a:solidFill>
                <a:latin typeface="맑은 고딕"/>
              </a:rPr>
              <a:t>꿀비  ·  제8회 KB AI Challenge  ·  github.com/BioCode67/kb-kkulbee-smallbiz-multiagent</a:t>
            </a:r>
          </a:p>
        </p:txBody>
      </p:sp>
      <p:pic>
        <p:nvPicPr>
          <p:cNvPr id="7" name="Picture 6" descr="kkulbee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011680"/>
            <a:ext cx="2891481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